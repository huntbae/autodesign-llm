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Apple SD Gothic Neo"/>
              </a:rPr>
              <a:t>AutoDesign-</a:t>
            </a:r>
            <a:r>
              <a:rPr sz="5400" b="1" i="0">
                <a:solidFill>
                  <a:srgbClr val="00A6A6"/>
                </a:solidFill>
                <a:latin typeface="Apple SD Gothic Neo"/>
              </a:rPr>
              <a:t>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CADCFC"/>
                </a:solidFill>
                <a:latin typeface="Apple SD Gothic Neo"/>
              </a:rPr>
              <a:t>자연어로 설계하고, 이론·표준으로 검증하는 자동차 부품 CAD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0A6A6"/>
                </a:solidFill>
                <a:latin typeface="Apple SD Gothic Neo"/>
              </a:rPr>
              <a:t>LLM × FreeCAD × FEM/CFD   ·   개발 기획 요약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0A6"/>
                </a:solidFill>
                <a:latin typeface="Apple SD Gothic Neo"/>
              </a:rPr>
              <a:t>2026-06-09  ·  설계·기획 단계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무엇을 만드는가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202124"/>
                </a:solidFill>
                <a:latin typeface="Apple SD Gothic Neo"/>
              </a:rPr>
              <a:t>엔지니어가 </a:t>
            </a:r>
            <a:r>
              <a:rPr sz="1700" b="1" i="0">
                <a:solidFill>
                  <a:srgbClr val="1A73E8"/>
                </a:solidFill>
                <a:latin typeface="Apple SD Gothic Neo"/>
              </a:rPr>
              <a:t>말로 요구사항을 설명하면</a:t>
            </a:r>
            <a:r>
              <a:rPr sz="1700" b="0" i="0">
                <a:solidFill>
                  <a:srgbClr val="202124"/>
                </a:solidFill>
                <a:latin typeface="Apple SD Gothic Neo"/>
              </a:rPr>
              <a:t>, 표준·이론에 근거해 사전 검토하고 물리적으로 검증된 자동차 부품 CAD를 만들어 주는 설계 가속 도구.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468880"/>
            <a:ext cx="3246120" cy="18288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697480"/>
            <a:ext cx="2788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2545"/>
                </a:solidFill>
                <a:latin typeface="Apple SD Gothic Neo"/>
              </a:rPr>
              <a:t>설계 엔지니어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291840"/>
            <a:ext cx="27889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초기 설계·검증 반복을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대폭 단축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468880"/>
            <a:ext cx="3246120" cy="18288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697480"/>
            <a:ext cx="2788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2545"/>
                </a:solidFill>
                <a:latin typeface="Apple SD Gothic Neo"/>
              </a:rPr>
              <a:t>중소 부품사(Tier 2/3)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91840"/>
            <a:ext cx="27889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부족한 CAE 역량을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저비용으로 보완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468880"/>
            <a:ext cx="3246120" cy="18288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697480"/>
            <a:ext cx="2788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2545"/>
                </a:solidFill>
                <a:latin typeface="Apple SD Gothic Neo"/>
              </a:rPr>
              <a:t>컨설팅·스타트업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291840"/>
            <a:ext cx="27889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컨셉을 빠르게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검토·제안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66344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A6A6"/>
                </a:solidFill>
                <a:latin typeface="Apple SD Gothic Neo"/>
              </a:rPr>
              <a:t>핵심 가치 — </a:t>
            </a:r>
            <a:r>
              <a:rPr sz="1600" b="1" i="0">
                <a:solidFill>
                  <a:srgbClr val="202124"/>
                </a:solidFill>
                <a:latin typeface="Apple SD Gothic Neo"/>
              </a:rPr>
              <a:t>단순 '말로 모델링'이 아니라 검증·사전검토 레이어가 차별점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F6368"/>
                </a:solidFill>
                <a:latin typeface="Apple SD Gothic Neo"/>
              </a:rPr>
              <a:t>비목표 — 양산 최종 승인 도구가 아님(보조). 정식 CAE·실물시험을 대체하지 않음.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핵심 차별점: 검증·사전검토 레이어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02124"/>
                </a:solidFill>
                <a:latin typeface="Apple SD Gothic Neo"/>
              </a:rPr>
              <a:t>시중 '말로 3D 모델링' 도구는 형상 생성까지. 본 시스템은 자동차 도메인의 정량 검증을 자동화한다.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103120"/>
            <a:ext cx="5029200" cy="3200400"/>
          </a:xfrm>
          <a:prstGeom prst="roundRect">
            <a:avLst/>
          </a:prstGeom>
          <a:solidFill>
            <a:srgbClr val="FCE8E6"/>
          </a:solidFill>
          <a:ln w="1524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331720"/>
            <a:ext cx="4480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2545"/>
                </a:solidFill>
                <a:latin typeface="Apple SD Gothic Neo"/>
              </a:rPr>
              <a:t>기존 도구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017520"/>
            <a:ext cx="448056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02124"/>
                </a:solidFill>
                <a:latin typeface="Apple SD Gothic Neo"/>
              </a:rPr>
              <a:t>· 자연어 → 형상 생성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02124"/>
                </a:solidFill>
                <a:latin typeface="Apple SD Gothic Neo"/>
              </a:rPr>
              <a:t>· 검증 없음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02124"/>
                </a:solidFill>
                <a:latin typeface="Apple SD Gothic Neo"/>
              </a:rPr>
              <a:t>· 도메인 무관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103120"/>
            <a:ext cx="5029200" cy="3200400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2331720"/>
            <a:ext cx="4480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2545"/>
                </a:solidFill>
                <a:latin typeface="Apple SD Gothic Neo"/>
              </a:rPr>
              <a:t>AutoDesign-LLM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017520"/>
            <a:ext cx="448056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02124"/>
                </a:solidFill>
                <a:latin typeface="Apple SD Gothic Neo"/>
              </a:rPr>
              <a:t>· 형상 생성 +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02124"/>
                </a:solidFill>
                <a:latin typeface="Apple SD Gothic Neo"/>
              </a:rPr>
              <a:t>· 강도·모달·피로·DFM 검증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02124"/>
                </a:solidFill>
                <a:latin typeface="Apple SD Gothic Neo"/>
              </a:rPr>
              <a:t>· 표준·물성 근거 사전검토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02124"/>
                </a:solidFill>
                <a:latin typeface="Apple SD Gothic Neo"/>
              </a:rPr>
              <a:t>· 자기교정 루프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전체 시스템 구성도</a:t>
            </a:r>
          </a:p>
        </p:txBody>
      </p:sp>
      <p:pic>
        <p:nvPicPr>
          <p:cNvPr id="5" name="Picture 4" descr="diagram_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47" y="1371600"/>
            <a:ext cx="5873886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pple SD Gothic Neo"/>
              </a:rPr>
              <a:t>입력 → RAG 사전검토 → 형상 생성 → 다물리 검증 → 자기교정 루프 → 경량화 → 검증된 산출물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자동차 도메인 검증 레이어 (핵심)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60704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2468880"/>
                <a:gridCol w="2743200"/>
                <a:gridCol w="4206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분류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검증 항목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방법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합격 기준(예)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기하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솔리드 유효성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isValid()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닫힌 솔리드·자기교차 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구조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정적 강도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FEM(CalculiX)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안전계수 SF ≥ 목표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진동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모달(NVH)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FEM 모달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1차 고유진동수 ≥ 임계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내구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피로 수명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S-N + Miner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목표 사이클 초과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제조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DFM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규칙+형상질의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구배·두께·R·언더컷 충족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중량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경량화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위상최적화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SF 유지하며 질량 최소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06440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93025"/>
                </a:solidFill>
                <a:latin typeface="Apple SD Gothic Neo"/>
              </a:rPr>
              <a:t>안전 원칙 — </a:t>
            </a:r>
            <a:r>
              <a:rPr sz="1300" b="0" i="0">
                <a:solidFill>
                  <a:srgbClr val="202124"/>
                </a:solidFill>
                <a:latin typeface="Apple SD Gothic Neo"/>
              </a:rPr>
              <a:t>모든 물성·표준 수치는 검증된 출처로만. 최종 양산 판정은 정식 CAE·실물시험 필수.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외형(Exterior) 보완 — 오픈소스 툴체인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02124"/>
                </a:solidFill>
                <a:latin typeface="Apple SD Gothic Neo"/>
              </a:rPr>
              <a:t>외형도 동일하게 '생성→검증→교정' 루프. 단, 검증 축이 FEM이 아니라 </a:t>
            </a:r>
            <a:r>
              <a:rPr sz="1400" b="1" i="0">
                <a:solidFill>
                  <a:srgbClr val="00A6A6"/>
                </a:solidFill>
                <a:latin typeface="Apple SD Gothic Neo"/>
              </a:rPr>
              <a:t>공력(CFD)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103120"/>
            <a:ext cx="2423160" cy="13716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19" y="2240280"/>
            <a:ext cx="214884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Apple SD Gothic Neo"/>
              </a:rPr>
              <a:t>① AI 개념 생성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TRELLIS / Hunyuan3D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30752" y="2606040"/>
            <a:ext cx="219456" cy="36576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7639" y="2103120"/>
            <a:ext cx="2423160" cy="13716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240280"/>
            <a:ext cx="214884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Apple SD Gothic Neo"/>
              </a:rPr>
              <a:t>② 리토폴로지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Blender / Quadriflow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28231" y="2606040"/>
            <a:ext cx="219456" cy="36576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2103120"/>
            <a:ext cx="2423160" cy="13716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240280"/>
            <a:ext cx="214884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Apple SD Gothic Neo"/>
              </a:rPr>
              <a:t>③ 공력 검증 ★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OpenFOAM (Cd·Cl)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25712" y="2606040"/>
            <a:ext cx="219456" cy="365760"/>
          </a:xfrm>
          <a:prstGeom prst="rightArrow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72600" y="2103120"/>
            <a:ext cx="2423160" cy="13716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240280"/>
            <a:ext cx="214884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Apple SD Gothic Neo"/>
              </a:rPr>
              <a:t>④ 메시→NURBS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Apple SD Gothic Neo"/>
              </a:rPr>
              <a:t>FreeCAD RE / OpenNURBS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1042416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1" i="0">
                <a:solidFill>
                  <a:srgbClr val="202124"/>
                </a:solidFill>
                <a:latin typeface="Apple SD Gothic Neo"/>
              </a:rPr>
              <a:t>제조용 Class-A 서피스는 오픈소스로 아직 어렵다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F6368"/>
                </a:solidFill>
                <a:latin typeface="Apple SD Gothic Neo"/>
              </a:rPr>
              <a:t>     → Alias/ICEM 상용 영역. 목표는 '개념+공력+근사 서피스'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1" i="0">
                <a:solidFill>
                  <a:srgbClr val="202124"/>
                </a:solidFill>
                <a:latin typeface="Apple SD Gothic Neo"/>
              </a:rPr>
              <a:t>AI 생성 메시는 '개념'이지 '설계'가 아니다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F6368"/>
                </a:solidFill>
                <a:latin typeface="Apple SD Gothic Neo"/>
              </a:rPr>
              <a:t>     → 리토폴로지·서피스화가 필수 다리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1" i="0">
                <a:solidFill>
                  <a:srgbClr val="202124"/>
                </a:solidFill>
                <a:latin typeface="Apple SD Gothic Neo"/>
              </a:rPr>
              <a:t>외형 교정은 주관적 — 공력(Cd)은 정량, 미감은 사람 판단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F6368"/>
                </a:solidFill>
                <a:latin typeface="Apple SD Gothic Neo"/>
              </a:rPr>
              <a:t>     → 시스템은 공력·패키징·법규 정량 항목에 집중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개발 로드맵 (기획자 관점)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49377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2377440"/>
                <a:gridCol w="7680960"/>
              </a:tblGrid>
              <a:tr h="548639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Phase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테마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핵심 산출물 / Exit Gate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P0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기반 구축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FreeCAD·CalculiX·LLM 추상화 / 골든 부품 생성 성공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P1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형상 생성 MVP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자연어→브래킷 생성 + 기하 검증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P2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구조 검증+교정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FEM 강도·SF 판정 / 미달→교정→통과 E2E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P3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지식(RAG)+사전검토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RAG·물성DB / 리포트가 표준·물성 인용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P4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다물리 검증+DFM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모달·피로·제조성 / 보고서(PDF) 산출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P5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경량화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위상최적화 / 질량 ≥15%↓ &amp; SF 유지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P6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외형 툴체인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Blender/AI + OpenFOAM / 컨셉 외형+Cd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47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P7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통합·제품화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02124"/>
                          </a:solidFill>
                          <a:latin typeface="Apple SD Gothic Neo"/>
                        </a:rPr>
                        <a:t>UI·어셈블리 / 파일럿 PoC 완료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마일스톤 &amp; 성공지표(KPI)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212080" cy="46634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Apple SD Gothic Neo"/>
              </a:rPr>
              <a:t>마일스톤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75488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1" i="0">
                <a:solidFill>
                  <a:srgbClr val="202124"/>
                </a:solidFill>
                <a:latin typeface="Apple SD Gothic Neo"/>
              </a:rPr>
              <a:t>M1 (P2): '말로 검증된 브래킷 생성'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F6368"/>
                </a:solidFill>
                <a:latin typeface="Apple SD Gothic Neo"/>
              </a:rPr>
              <a:t>     핵심 가설 증명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1" i="0">
                <a:solidFill>
                  <a:srgbClr val="202124"/>
                </a:solidFill>
                <a:latin typeface="Apple SD Gothic Neo"/>
              </a:rPr>
              <a:t>M2 (P4): 풀 검증 + 검토보고서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F6368"/>
                </a:solidFill>
                <a:latin typeface="Apple SD Gothic Neo"/>
              </a:rPr>
              <a:t>     베타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1" i="0">
                <a:solidFill>
                  <a:srgbClr val="202124"/>
                </a:solidFill>
                <a:latin typeface="Apple SD Gothic Neo"/>
              </a:rPr>
              <a:t>M3 (P5): 경량화까지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F6368"/>
                </a:solidFill>
                <a:latin typeface="Apple SD Gothic Neo"/>
              </a:rPr>
              <a:t>     차별화 완성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1" i="0">
                <a:solidFill>
                  <a:srgbClr val="202124"/>
                </a:solidFill>
                <a:latin typeface="Apple SD Gothic Neo"/>
              </a:rPr>
              <a:t>M4 (P7): 파일럿 PoC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F6368"/>
                </a:solidFill>
                <a:latin typeface="Apple SD Gothic Neo"/>
              </a:rPr>
              <a:t>     상용화 진입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20640" cy="466344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Apple SD Gothic Neo"/>
              </a:rPr>
              <a:t>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검증 게이트 통과율 ≥ 70% (P4)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골든 케이스 회귀 통과율 100% 유지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요구사항→검증 CAD 시간 ≥ 50% 단축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자기교정 루프 평균 ≤ 3회 수렴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경량화: SF 유지 질량 ≥ 15%↓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개발 프로세스 (개발자 관점)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972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4241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545"/>
                </a:solidFill>
                <a:latin typeface="Apple SD Gothic Neo"/>
              </a:rPr>
              <a:t>인터페이스 우선 설계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124"/>
                </a:solidFill>
                <a:latin typeface="Apple SD Gothic Neo"/>
              </a:rPr>
              <a:t>LLMClient·Retriever·Validator 계약 뒤에 백엔드 은닉 → 세 버전이 코어 공유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95728"/>
            <a:ext cx="10972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104241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545"/>
                </a:solidFill>
                <a:latin typeface="Apple SD Gothic Neo"/>
              </a:rPr>
              <a:t>검증을 먼저, 생성을 나중에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124"/>
                </a:solidFill>
                <a:latin typeface="Apple SD Gothic Neo"/>
              </a:rPr>
              <a:t>검증 없으면 생성 품질 측정 불가 — 검증부터 구축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28416"/>
            <a:ext cx="10972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28416"/>
            <a:ext cx="104241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545"/>
                </a:solidFill>
                <a:latin typeface="Apple SD Gothic Neo"/>
              </a:rPr>
              <a:t>골든 케이스 회귀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124"/>
                </a:solidFill>
                <a:latin typeface="Apple SD Gothic Neo"/>
              </a:rPr>
              <a:t>벤치마크 부품의 기대 결과 고정, LLM 비결정성은 '검증 통과·핵심 지표'로 판정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261104"/>
            <a:ext cx="10972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61104"/>
            <a:ext cx="104241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545"/>
                </a:solidFill>
                <a:latin typeface="Apple SD Gothic Neo"/>
              </a:rPr>
              <a:t>샌드박스 실행 + 출처 추적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124"/>
                </a:solidFill>
                <a:latin typeface="Apple SD Gothic Neo"/>
              </a:rPr>
              <a:t>생성 Python 격리 실행, 물성·표준은 출처 메타 동반(임의생성 금지)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193792"/>
            <a:ext cx="10972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93792"/>
            <a:ext cx="104241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545"/>
                </a:solidFill>
                <a:latin typeface="Apple SD Gothic Neo"/>
              </a:rPr>
              <a:t>CI/CD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124"/>
                </a:solidFill>
                <a:latin typeface="Apple SD Gothic Neo"/>
              </a:rPr>
              <a:t>lint→unit→integration(headless)→golden(허용오차)→배포, 무거운 시뮬은 nightly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pple SD Gothic Neo"/>
              </a:rPr>
              <a:t>세 가지 배포 버전</a:t>
            </a:r>
          </a:p>
        </p:txBody>
      </p:sp>
      <p:pic>
        <p:nvPicPr>
          <p:cNvPr id="5" name="Picture 4" descr="diagram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124" y="1554480"/>
            <a:ext cx="8470531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CADCFC"/>
                </a:solidFill>
                <a:latin typeface="Apple SD Gothic Neo"/>
              </a:rPr>
              <a:t>공통 코어 위에서 LLM·지식·연산 백엔드만 교체하는 하나의 진화 경로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v1 — 로컬 LLM (온프레미스)</a:t>
            </a:r>
          </a:p>
        </p:txBody>
      </p:sp>
      <p:pic>
        <p:nvPicPr>
          <p:cNvPr id="5" name="Picture 4" descr="diagram_v1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23598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6304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88038"/>
                </a:solidFill>
                <a:latin typeface="Apple SD Gothic Neo"/>
              </a:rPr>
              <a:t>강점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2120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IP 유출 0 (에어갭 가능)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API 비용 0 · 오프라인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데이터 주권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93025"/>
                </a:solidFill>
                <a:latin typeface="Apple SD Gothic Neo"/>
              </a:rPr>
              <a:t>약점 / 적합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521208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GPU 하드웨어 비용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도메인 지식 한계(RAG 전)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→ 방산·OEM 에어갭 환경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v2 — 로컬 + RAG 하이브리드 ★주력</a:t>
            </a:r>
          </a:p>
        </p:txBody>
      </p:sp>
      <p:pic>
        <p:nvPicPr>
          <p:cNvPr id="5" name="Picture 4" descr="diagram_v2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23598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6304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88038"/>
                </a:solidFill>
                <a:latin typeface="Apple SD Gothic Neo"/>
              </a:rPr>
              <a:t>강점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2120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온프레미스 보안 유지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RAG로 도메인 정확도↑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사내 설계자산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93025"/>
                </a:solidFill>
                <a:latin typeface="Apple SD Gothic Neo"/>
              </a:rPr>
              <a:t>약점 / 적합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521208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RAG 파이프라인·지식 큐레이션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→ 대다수 부품사·OEM 권장 기본값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v3 — 클라우드</a:t>
            </a:r>
          </a:p>
        </p:txBody>
      </p:sp>
      <p:pic>
        <p:nvPicPr>
          <p:cNvPr id="5" name="Picture 4" descr="diagram_v3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23598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6304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88038"/>
                </a:solidFill>
                <a:latin typeface="Apple SD Gothic Neo"/>
              </a:rPr>
              <a:t>강점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2120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최고 모델 품질(+비전)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무거운 시뮬 무한 확장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하드웨어 CAPEX 0 · 빠른 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93025"/>
                </a:solidFill>
                <a:latin typeface="Apple SD Gothic Neo"/>
              </a:rPr>
              <a:t>약점 / 적합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521208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데이터 외부 전송(IP 우려)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지속 OPEX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400" b="0" i="0">
                <a:solidFill>
                  <a:srgbClr val="202124"/>
                </a:solidFill>
                <a:latin typeface="Apple SD Gothic Neo"/>
              </a:rPr>
              <a:t>→ 비민감·대규모 시뮬·빠른 반복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세 버전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72800" cy="4773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468880"/>
                <a:gridCol w="3108960"/>
                <a:gridCol w="3017520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ple SD Gothic Neo"/>
                        </a:rPr>
                        <a:t>기준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ple SD Gothic Neo"/>
                        </a:rPr>
                        <a:t>v1 로컬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ple SD Gothic Neo"/>
                        </a:rPr>
                        <a:t>v2 하이브리드 ★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ple SD Gothic Neo"/>
                        </a:rPr>
                        <a:t>v3 클라우드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LLM 위치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로컬 GPU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로컬 GPU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클라우드 API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지식(RAG)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없음/정적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로컬 RAG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매니지드 RAG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도메인 정확도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높음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높음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모델 품질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중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중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최고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IP 보안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최고(에어갭)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높음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낮음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무거운 시뮬 확장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제한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옵션(버스트)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최고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비용 구조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CAPEX(GPU)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CAPEX+큐레이션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OPEX(토큰+연산)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적합 고객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에어갭·방산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대다수 부품사·OEM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124"/>
                          </a:solidFill>
                          <a:latin typeface="Apple SD Gothic Neo"/>
                        </a:rPr>
                        <a:t>스타트업·대규모 시뮬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Apple SD Gothic Neo"/>
              </a:rPr>
              <a:t>리스크 &amp; 안전 원칙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607040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6400800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리스크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대응</a:t>
                      </a:r>
                    </a:p>
                  </a:txBody>
                  <a:tcPr marL="63500" marR="63500" marT="25400" marB="25400" anchor="ctr">
                    <a:solidFill>
                      <a:srgbClr val="0B25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검증 신뢰성 부족 → 신뢰 상실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골든 케이스·엔지니어 검수, '보조 도구' 포지셔닝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로컬 모델 코드생성 품질 부족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RAG 보강·코드특화 모델, 폴백으로 클라우드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물성·표준 데이터 확보/라이선스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검증된 데이터 파트너십, 출처 관리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무거운 시뮬 비용/시간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대리모델(surrogate)·클라우드 버스트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부품 안전 책임(규제)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02124"/>
                          </a:solidFill>
                          <a:latin typeface="Apple SD Gothic Neo"/>
                        </a:rPr>
                        <a:t>면책 고지·검수 게이트·감사 로그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52160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02124"/>
                </a:solidFill>
                <a:latin typeface="Apple SD Gothic Neo"/>
              </a:rPr>
              <a:t>안전 원칙 — 시스템은 엔지니어를 </a:t>
            </a:r>
            <a:r>
              <a:rPr sz="1400" b="1" i="0">
                <a:solidFill>
                  <a:srgbClr val="1A73E8"/>
                </a:solidFill>
                <a:latin typeface="Apple SD Gothic Neo"/>
              </a:rPr>
              <a:t>보조</a:t>
            </a:r>
            <a:r>
              <a:rPr sz="1400" b="1" i="0">
                <a:solidFill>
                  <a:srgbClr val="202124"/>
                </a:solidFill>
                <a:latin typeface="Apple SD Gothic Neo"/>
              </a:rPr>
              <a:t>한다. 최종 양산 판정은 정식 CAE·실물시험을 거쳐야 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54864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pple SD Gothic Neo"/>
              </a:rPr>
              <a:t>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800" b="0" i="0">
                <a:solidFill>
                  <a:srgbClr val="CADCFC"/>
                </a:solidFill>
                <a:latin typeface="Apple SD Gothic Neo"/>
              </a:rPr>
              <a:t>물성·표준 데이터 소스 확보·라이선스 조사 (리드타임 최장)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800" b="0" i="0">
                <a:solidFill>
                  <a:srgbClr val="CADCFC"/>
                </a:solidFill>
                <a:latin typeface="Apple SD Gothic Neo"/>
              </a:rPr>
              <a:t>Phase 0 코어 스캐폴딩 — LLM 추상화 + 엔진 브래킷 골든 케이스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A73E8"/>
                </a:solidFill>
                <a:latin typeface="Apple SD Gothic Neo"/>
              </a:rPr>
              <a:t>▸  </a:t>
            </a:r>
            <a:r>
              <a:rPr sz="1800" b="0" i="0">
                <a:solidFill>
                  <a:srgbClr val="CADCFC"/>
                </a:solidFill>
                <a:latin typeface="Apple SD Gothic Neo"/>
              </a:rPr>
              <a:t>주력 v2(하이브리드) 기준으로 RAG 지식베이스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0A6A6"/>
                </a:solidFill>
                <a:latin typeface="Apple SD Gothic Neo"/>
              </a:rPr>
              <a:t>AutoDesign-LLM  ·  2026-06-09  ·  설계·기획 단계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